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8" r:id="rId2"/>
    <p:sldId id="260" r:id="rId3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8"/>
  </p:normalViewPr>
  <p:slideViewPr>
    <p:cSldViewPr snapToGrid="0">
      <p:cViewPr varScale="1">
        <p:scale>
          <a:sx n="120" d="100"/>
          <a:sy n="120" d="100"/>
        </p:scale>
        <p:origin x="800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50F27B2-B7FE-AF44-AF8D-07D935596106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D084645-A39F-8547-8826-EFCD89F71A26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2996730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ja-JP" altLang="en-US"/>
              <a:t>メモ　赤外線の通信方法→</a:t>
            </a:r>
            <a:endParaRPr kumimoji="1" lang="en-US" altLang="ja-JP" dirty="0"/>
          </a:p>
          <a:p>
            <a:r>
              <a:rPr kumimoji="1" lang="en-US" altLang="ja-JP" dirty="0"/>
              <a:t> </a:t>
            </a:r>
            <a:r>
              <a:rPr kumimoji="1" lang="en-US" altLang="ja-JP" dirty="0" err="1"/>
              <a:t>IrSender.sendSony</a:t>
            </a:r>
            <a:r>
              <a:rPr kumimoji="1" lang="en-US" altLang="ja-JP" dirty="0"/>
              <a:t>(address, command, repeats)  (command(mask)</a:t>
            </a:r>
            <a:r>
              <a:rPr kumimoji="1" lang="ja-JP" altLang="en-US"/>
              <a:t>で，</a:t>
            </a:r>
            <a:r>
              <a:rPr kumimoji="1" lang="en-US" altLang="ja-JP" dirty="0"/>
              <a:t>1</a:t>
            </a:r>
            <a:r>
              <a:rPr kumimoji="1" lang="ja-JP" altLang="en-US"/>
              <a:t>や</a:t>
            </a:r>
            <a:r>
              <a:rPr kumimoji="1" lang="en-US" altLang="ja-JP" dirty="0"/>
              <a:t>2</a:t>
            </a:r>
            <a:r>
              <a:rPr kumimoji="1" lang="ja-JP" altLang="en-US"/>
              <a:t>などを送信して，各</a:t>
            </a:r>
            <a:r>
              <a:rPr kumimoji="1" lang="en-US" altLang="ja-JP" dirty="0"/>
              <a:t>child</a:t>
            </a:r>
            <a:r>
              <a:rPr kumimoji="1" lang="ja-JP" altLang="en-US"/>
              <a:t>が判別</a:t>
            </a:r>
            <a:endParaRPr kumimoji="1" lang="en-US" altLang="ja-JP" dirty="0"/>
          </a:p>
          <a:p>
            <a:endParaRPr kumimoji="1" lang="en-US" altLang="ja-JP" dirty="0"/>
          </a:p>
          <a:p>
            <a:r>
              <a:rPr kumimoji="1" lang="en-US" altLang="ja-JP" dirty="0"/>
              <a:t>  - </a:t>
            </a:r>
            <a:r>
              <a:rPr kumimoji="1" lang="ja-JP" altLang="en-US"/>
              <a:t>第</a:t>
            </a:r>
            <a:r>
              <a:rPr kumimoji="1" lang="en-US" altLang="ja-JP" dirty="0"/>
              <a:t>1</a:t>
            </a:r>
            <a:r>
              <a:rPr kumimoji="1" lang="ja-JP" altLang="en-US"/>
              <a:t>引数 </a:t>
            </a:r>
            <a:r>
              <a:rPr kumimoji="1" lang="en-US" altLang="ja-JP" dirty="0"/>
              <a:t>0 = address</a:t>
            </a:r>
            <a:r>
              <a:rPr kumimoji="1" lang="ja-JP" altLang="en-US"/>
              <a:t>。</a:t>
            </a:r>
            <a:r>
              <a:rPr kumimoji="1" lang="en-US" altLang="ja-JP" dirty="0"/>
              <a:t>Sony SIRC</a:t>
            </a:r>
            <a:r>
              <a:rPr kumimoji="1" lang="ja-JP" altLang="en-US"/>
              <a:t>プロトコルのデバイスアドレス。テレビなら</a:t>
            </a:r>
            <a:r>
              <a:rPr kumimoji="1" lang="en-US" altLang="ja-JP" dirty="0"/>
              <a:t>1</a:t>
            </a:r>
            <a:r>
              <a:rPr kumimoji="1" lang="ja-JP" altLang="en-US"/>
              <a:t>、</a:t>
            </a:r>
            <a:r>
              <a:rPr kumimoji="1" lang="en-US" altLang="ja-JP" dirty="0"/>
              <a:t>VCR</a:t>
            </a:r>
            <a:r>
              <a:rPr kumimoji="1" lang="ja-JP" altLang="en-US"/>
              <a:t>なら</a:t>
            </a:r>
            <a:r>
              <a:rPr kumimoji="1" lang="en-US" altLang="ja-JP" dirty="0"/>
              <a:t>2</a:t>
            </a:r>
            <a:r>
              <a:rPr kumimoji="1" lang="ja-JP" altLang="en-US"/>
              <a:t>みたいに家電の種類を区別するためのフィールド。このシステムでは区別する必要がないから</a:t>
            </a:r>
            <a:r>
              <a:rPr kumimoji="1" lang="en-US" altLang="ja-JP" dirty="0"/>
              <a:t>0</a:t>
            </a:r>
            <a:r>
              <a:rPr kumimoji="1" lang="ja-JP" altLang="en-US"/>
              <a:t>固定。</a:t>
            </a:r>
          </a:p>
          <a:p>
            <a:r>
              <a:rPr kumimoji="1" lang="ja-JP" altLang="en-US"/>
              <a:t>  </a:t>
            </a:r>
            <a:r>
              <a:rPr kumimoji="1" lang="en-US" altLang="ja-JP" dirty="0"/>
              <a:t>- </a:t>
            </a:r>
            <a:r>
              <a:rPr kumimoji="1" lang="ja-JP" altLang="en-US"/>
              <a:t>第</a:t>
            </a:r>
            <a:r>
              <a:rPr kumimoji="1" lang="en-US" altLang="ja-JP" dirty="0"/>
              <a:t>2</a:t>
            </a:r>
            <a:r>
              <a:rPr kumimoji="1" lang="ja-JP" altLang="en-US"/>
              <a:t>引数 </a:t>
            </a:r>
            <a:r>
              <a:rPr kumimoji="1" lang="en-US" altLang="ja-JP" dirty="0"/>
              <a:t>mask = command</a:t>
            </a:r>
            <a:r>
              <a:rPr kumimoji="1" lang="ja-JP" altLang="en-US"/>
              <a:t>。本来はリモコンのボタン（電源、音量</a:t>
            </a:r>
            <a:r>
              <a:rPr kumimoji="1" lang="en-US" altLang="ja-JP" dirty="0"/>
              <a:t>+</a:t>
            </a:r>
            <a:r>
              <a:rPr kumimoji="1" lang="ja-JP" altLang="en-US"/>
              <a:t>など）を表すフィールド。このシステムでは参加楽器マスクを載せている。</a:t>
            </a:r>
            <a:r>
              <a:rPr kumimoji="1" lang="en-US" altLang="ja-JP" dirty="0"/>
              <a:t> </a:t>
            </a:r>
            <a:endParaRPr kumimoji="1" lang="ja-JP" altLang="en-US"/>
          </a:p>
          <a:p>
            <a:r>
              <a:rPr kumimoji="1" lang="ja-JP" altLang="en-US"/>
              <a:t>  </a:t>
            </a:r>
            <a:r>
              <a:rPr kumimoji="1" lang="en-US" altLang="ja-JP" dirty="0"/>
              <a:t>- </a:t>
            </a:r>
            <a:r>
              <a:rPr kumimoji="1" lang="ja-JP" altLang="en-US"/>
              <a:t>第</a:t>
            </a:r>
            <a:r>
              <a:rPr kumimoji="1" lang="en-US" altLang="ja-JP" dirty="0"/>
              <a:t>3</a:t>
            </a:r>
            <a:r>
              <a:rPr kumimoji="1" lang="ja-JP" altLang="en-US"/>
              <a:t>引数 </a:t>
            </a:r>
            <a:r>
              <a:rPr kumimoji="1" lang="en-US" altLang="ja-JP" dirty="0"/>
              <a:t>0 = repeats</a:t>
            </a:r>
            <a:r>
              <a:rPr kumimoji="1" lang="ja-JP" altLang="en-US"/>
              <a:t>（繰り返し回数）。</a:t>
            </a:r>
            <a:r>
              <a:rPr kumimoji="1" lang="en-US" altLang="ja-JP" dirty="0"/>
              <a:t>Sony SIRC</a:t>
            </a:r>
            <a:r>
              <a:rPr kumimoji="1" lang="ja-JP" altLang="en-US"/>
              <a:t>は本来の仕様では同じフレームを</a:t>
            </a:r>
            <a:r>
              <a:rPr kumimoji="1" lang="en-US" altLang="ja-JP" dirty="0"/>
              <a:t>3</a:t>
            </a:r>
            <a:r>
              <a:rPr kumimoji="1" lang="ja-JP" altLang="en-US"/>
              <a:t>回送るルールだけど、</a:t>
            </a:r>
            <a:r>
              <a:rPr kumimoji="1" lang="en-US" altLang="ja-JP" dirty="0"/>
              <a:t>0</a:t>
            </a:r>
            <a:r>
              <a:rPr kumimoji="1" lang="ja-JP" altLang="en-US"/>
              <a:t>にして</a:t>
            </a:r>
            <a:r>
              <a:rPr kumimoji="1" lang="en-US" altLang="ja-JP" dirty="0"/>
              <a:t>1</a:t>
            </a:r>
            <a:r>
              <a:rPr kumimoji="1" lang="ja-JP" altLang="en-US"/>
              <a:t>回だけ送信にしている。毎</a:t>
            </a:r>
            <a:r>
              <a:rPr kumimoji="1" lang="en-US" altLang="ja-JP" dirty="0"/>
              <a:t>tick</a:t>
            </a:r>
            <a:r>
              <a:rPr kumimoji="1" lang="ja-JP" altLang="en-US"/>
              <a:t>送るから繰り返す必要がない。</a:t>
            </a:r>
          </a:p>
          <a:p>
            <a:endParaRPr kumimoji="1" lang="en-US" altLang="ja-JP" dirty="0"/>
          </a:p>
          <a:p>
            <a:r>
              <a:rPr kumimoji="1" lang="en-US" altLang="ja-JP" dirty="0"/>
              <a:t>❯ </a:t>
            </a:r>
            <a:r>
              <a:rPr kumimoji="1" lang="ja-JP" altLang="en-US"/>
              <a:t>その引数はなくせないの？</a:t>
            </a:r>
          </a:p>
          <a:p>
            <a:endParaRPr kumimoji="1" lang="ja-JP" altLang="en-US"/>
          </a:p>
          <a:p>
            <a:r>
              <a:rPr kumimoji="1" lang="ja-JP" altLang="en-US"/>
              <a:t>なくせない。</a:t>
            </a:r>
            <a:r>
              <a:rPr kumimoji="1" lang="en-US" altLang="ja-JP" dirty="0" err="1"/>
              <a:t>IRremote</a:t>
            </a:r>
            <a:r>
              <a:rPr kumimoji="1" lang="ja-JP" altLang="en-US"/>
              <a:t>ライブラリの関数シグネチャがそう定義されてるから、呼ぶ側は</a:t>
            </a:r>
            <a:r>
              <a:rPr kumimoji="1" lang="en-US" altLang="ja-JP" dirty="0"/>
              <a:t>3</a:t>
            </a:r>
            <a:r>
              <a:rPr kumimoji="1" lang="ja-JP" altLang="en-US"/>
              <a:t>つとも渡す必要がある。</a:t>
            </a:r>
          </a:p>
          <a:p>
            <a:endParaRPr kumimoji="1" lang="ja-JP" altLang="en-US"/>
          </a:p>
          <a:p>
            <a:r>
              <a:rPr kumimoji="1" lang="ja-JP" altLang="en-US"/>
              <a:t>  ただし実質的に意味があるのは第</a:t>
            </a:r>
            <a:r>
              <a:rPr kumimoji="1" lang="en-US" altLang="ja-JP" dirty="0"/>
              <a:t>2</a:t>
            </a:r>
            <a:r>
              <a:rPr kumimoji="1" lang="ja-JP" altLang="en-US"/>
              <a:t>引数の</a:t>
            </a:r>
            <a:r>
              <a:rPr kumimoji="1" lang="en-US" altLang="ja-JP" dirty="0"/>
              <a:t>mask</a:t>
            </a:r>
            <a:r>
              <a:rPr kumimoji="1" lang="ja-JP" altLang="en-US"/>
              <a:t>だけ。第</a:t>
            </a:r>
            <a:r>
              <a:rPr kumimoji="1" lang="en-US" altLang="ja-JP" dirty="0"/>
              <a:t>1</a:t>
            </a:r>
            <a:r>
              <a:rPr kumimoji="1" lang="ja-JP" altLang="en-US"/>
              <a:t>引数と第</a:t>
            </a:r>
            <a:r>
              <a:rPr kumimoji="1" lang="en-US" altLang="ja-JP" dirty="0"/>
              <a:t>3</a:t>
            </a:r>
            <a:r>
              <a:rPr kumimoji="1" lang="ja-JP" altLang="en-US"/>
              <a:t>引数の</a:t>
            </a:r>
            <a:r>
              <a:rPr kumimoji="1" lang="en-US" altLang="ja-JP" dirty="0"/>
              <a:t>0</a:t>
            </a:r>
            <a:r>
              <a:rPr kumimoji="1" lang="ja-JP" altLang="en-US"/>
              <a:t>は「使わないけど書かなきゃいけない」枠。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02D0CB6-256F-FDCE-BFBF-63D19A35964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400BF608-B7A9-3DED-59C8-05DE002161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871C3DF-4392-275A-4433-BED29A480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F942993-8DD7-02C1-0E33-B90EBAF666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D2155F8-7BB4-3AFB-7D09-3842BE04F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14647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7ABE0B0-AABD-220B-48FE-667B47733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6985C0A9-E4EB-7EDE-B8A9-893F38CD56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014B49D-8C2A-039B-87D2-BE12565FB2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A09CD71C-BE99-7438-B770-A253A9E13B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657E4F5E-5734-662F-2DA6-59C918785F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203916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1A2FCA3-A67C-FDD3-C442-5D80C2BCDE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3F617BF8-380D-7041-8E21-DD71B3225E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9B7EA6D-D13E-2C4D-BB80-139631AF8C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839CE9C-AEB2-2D52-F7FF-C7DC70CBF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59C47B5-244C-D573-B267-B652449E54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36516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4CCD6B-01E8-635F-1058-6B0FCD625C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25C0890-3144-B169-7107-F3DB0F0C2FA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EEF9614B-3A2B-50D3-7BB4-2E0128176F2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724C8DF5-B847-EAC4-BCAC-1E3DD7119E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EB29319-F599-0209-D31F-79B3F58279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E4948FF-67DB-F845-A3D2-6ADD6B3DAAF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460272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485DA02-8790-FA00-308A-5E23BB6697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6D71B6C-C6B2-B40E-FF5E-707A2E559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34751BD0-17CF-96A4-A6BF-D794B426CB3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62A9D233-E52B-304D-E93F-6C30DC74A7C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E2219379-287F-0189-0B64-A7E9B8395AB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CB33C01-F25D-1292-0B5C-2B8FCFB33A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E5CA7FC0-CF57-100B-4220-012173A0E7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0EFB2D0-0CAF-E114-4B4E-470D2CD46A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1826697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A770F18-6FDA-FA6F-3AAC-546A0B920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ED87D066-5042-C982-B586-16133CA572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D6BC1B60-3819-2967-0CF6-B0B6834CFE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5A7CA437-244B-5025-FDDF-F7F4430C44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2941756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09D720A8-B05F-E575-F8B9-7891B6E20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B9D462E1-902C-02A0-6510-1143701755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F695679F-EFE4-9193-2C8E-9891D338D7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2656978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AE606E9-203A-94B5-EB10-5360E6CBFC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DF53CCE-6AD5-BD0C-C6E6-BE6282684A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3C06CB6-F649-5B84-DC4D-4266C0148EF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EBD1E9-1857-98F2-5A31-30AD81FDFB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C00D377-26B6-2E71-5901-222DDC7A8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59B5D8D-807B-0C3C-64B2-4E93CDA072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2619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02986D60-1CE7-DF0E-16DF-7F062042274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6802EBF7-D624-4114-947A-EA65DC1CC39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A578992-7BB6-6C51-147D-E56ADEA93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D0F1C397-A234-B6A9-17C0-6529779E3B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C51E95E-EA9F-163F-75D0-CCA8095A7C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4AD1BB32-BC76-9295-B04D-0574C078F26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335041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CE6C9E0-36AA-42E9-A2B5-CA9C02775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D47B9B9F-0891-B2F7-61A9-9070A23B7B3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04545443-C5E6-B3F6-418F-CF9E8E838E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F80883B-11E9-A3EF-8A3B-5C4D591E07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F9EDB2F5-3C88-A425-0DC2-88CEB1555F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72543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5CD94B22-A258-5AAF-6756-CFA109F760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B0D4F534-9869-65D3-78F6-5E30261E44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1F261DD5-4C38-8123-B886-0BBECD9049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E3854A8-236B-1FEB-13C1-426BAE2099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8B0F486-65E4-5C46-069F-0478D8652C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4162337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948716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FD1FCD2-876A-A3A4-FB66-59282299DD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96C52757-40CB-5169-8F4F-D22A891473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7AD1E05-531A-1051-2144-AFEDF154ABF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347124E-26F0-8A4D-AF8A-97FCD7E21F0C}" type="datetimeFigureOut">
              <a:rPr kumimoji="1" lang="ja-JP" altLang="en-US" smtClean="0"/>
              <a:t>2026/7/14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A53AA7A-75CE-7DCF-D57C-4E8F865CB3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87C7EABE-F4AD-C8B8-93E1-97731626D59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BBC231-597D-3D4D-B031-AAF069970DE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988934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図 20">
            <a:extLst>
              <a:ext uri="{FF2B5EF4-FFF2-40B4-BE49-F238E27FC236}">
                <a16:creationId xmlns:a16="http://schemas.microsoft.com/office/drawing/2014/main" id="{D1D37F47-9844-67C1-ED4C-23FC0547B20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2447" y="1618628"/>
            <a:ext cx="4850115" cy="3620745"/>
          </a:xfrm>
          <a:prstGeom prst="rect">
            <a:avLst/>
          </a:prstGeom>
        </p:spPr>
      </p:pic>
      <p:sp>
        <p:nvSpPr>
          <p:cNvPr id="2" name="Text 0"/>
          <p:cNvSpPr/>
          <p:nvPr/>
        </p:nvSpPr>
        <p:spPr>
          <a:xfrm>
            <a:off x="8412480" y="-670560"/>
            <a:ext cx="3901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0" b="1" dirty="0">
                <a:solidFill>
                  <a:srgbClr val="F0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31520" y="670560"/>
            <a:ext cx="170688" cy="170688"/>
          </a:xfrm>
          <a:prstGeom prst="rect">
            <a:avLst/>
          </a:prstGeom>
          <a:solidFill>
            <a:srgbClr val="C6F03E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Text 2"/>
          <p:cNvSpPr/>
          <p:nvPr/>
        </p:nvSpPr>
        <p:spPr>
          <a:xfrm>
            <a:off x="1024128" y="548640"/>
            <a:ext cx="6705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CONCEPT</a:t>
            </a:r>
            <a:endParaRPr lang="en-US" sz="1467" dirty="0"/>
          </a:p>
        </p:txBody>
      </p:sp>
      <p:sp>
        <p:nvSpPr>
          <p:cNvPr id="5" name="Text 3"/>
          <p:cNvSpPr/>
          <p:nvPr/>
        </p:nvSpPr>
        <p:spPr>
          <a:xfrm>
            <a:off x="731520" y="999744"/>
            <a:ext cx="97536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 dirty="0" err="1">
                <a:solidFill>
                  <a:srgbClr val="1417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提案するシステムの概要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755904" y="1995895"/>
            <a:ext cx="881888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 err="1">
                <a:solidFill>
                  <a:srgbClr val="1417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概要</a:t>
            </a:r>
            <a:endParaRPr lang="en-US" sz="2667" dirty="0"/>
          </a:p>
        </p:txBody>
      </p:sp>
      <p:sp>
        <p:nvSpPr>
          <p:cNvPr id="7" name="Shape 5"/>
          <p:cNvSpPr/>
          <p:nvPr/>
        </p:nvSpPr>
        <p:spPr>
          <a:xfrm>
            <a:off x="731520" y="2328672"/>
            <a:ext cx="24384" cy="1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8" name="Text 6"/>
          <p:cNvSpPr/>
          <p:nvPr/>
        </p:nvSpPr>
        <p:spPr>
          <a:xfrm>
            <a:off x="731521" y="2584285"/>
            <a:ext cx="7823199" cy="118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en-US" sz="4267" b="1" u="sng" dirty="0" err="1">
                <a:latin typeface="Yu Gothic" panose="020B0400000000000000" pitchFamily="34" charset="-128"/>
                <a:ea typeface="Yu Gothic" panose="020B0400000000000000" pitchFamily="34" charset="-128"/>
                <a:cs typeface="Yu Gothic" pitchFamily="34" charset="-120"/>
              </a:rPr>
              <a:t>赤外線</a:t>
            </a:r>
            <a:r>
              <a:rPr lang="ja-JP" altLang="en-US" sz="4267" b="1" u="sng">
                <a:latin typeface="Yu Gothic" panose="020B0400000000000000" pitchFamily="34" charset="-128"/>
                <a:ea typeface="Yu Gothic" panose="020B0400000000000000" pitchFamily="34" charset="-128"/>
                <a:cs typeface="Yu Gothic" pitchFamily="34" charset="-120"/>
              </a:rPr>
              <a:t>通信による</a:t>
            </a:r>
            <a:endParaRPr lang="en-US" altLang="ja-JP" sz="4267" b="1" u="sng" dirty="0">
              <a:latin typeface="Yu Gothic" panose="020B0400000000000000" pitchFamily="34" charset="-128"/>
              <a:ea typeface="Yu Gothic" panose="020B0400000000000000" pitchFamily="34" charset="-128"/>
              <a:cs typeface="Yu Gothic" pitchFamily="34" charset="-120"/>
            </a:endParaRPr>
          </a:p>
          <a:p>
            <a:pPr>
              <a:lnSpc>
                <a:spcPct val="130000"/>
              </a:lnSpc>
            </a:pPr>
            <a:r>
              <a:rPr lang="en-US" altLang="ja-JP" sz="4267" b="1" u="sng" dirty="0" err="1">
                <a:latin typeface="Yu Gothic" panose="020B0400000000000000" pitchFamily="34" charset="-128"/>
                <a:ea typeface="Yu Gothic" panose="020B0400000000000000" pitchFamily="34" charset="-128"/>
                <a:cs typeface="Yu Gothic" pitchFamily="34" charset="-120"/>
              </a:rPr>
              <a:t>Arudino</a:t>
            </a:r>
            <a:r>
              <a:rPr lang="ja-JP" altLang="en-US" sz="4267" b="1" u="sng">
                <a:latin typeface="Yu Gothic" panose="020B0400000000000000" pitchFamily="34" charset="-128"/>
                <a:ea typeface="Yu Gothic" panose="020B0400000000000000" pitchFamily="34" charset="-128"/>
                <a:cs typeface="Yu Gothic" pitchFamily="34" charset="-120"/>
              </a:rPr>
              <a:t>の輪唱システム</a:t>
            </a:r>
            <a:endParaRPr lang="en-US" sz="4267" b="1" u="sng" dirty="0">
              <a:latin typeface="Yu Gothic" panose="020B0400000000000000" pitchFamily="34" charset="-128"/>
              <a:ea typeface="Yu Gothic" panose="020B0400000000000000" pitchFamily="34" charset="-128"/>
            </a:endParaRPr>
          </a:p>
        </p:txBody>
      </p:sp>
      <p:sp>
        <p:nvSpPr>
          <p:cNvPr id="9" name="Text 7"/>
          <p:cNvSpPr/>
          <p:nvPr/>
        </p:nvSpPr>
        <p:spPr>
          <a:xfrm>
            <a:off x="731520" y="4574027"/>
            <a:ext cx="1335024" cy="4145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2667" b="1" dirty="0" err="1">
                <a:solidFill>
                  <a:srgbClr val="14171C"/>
                </a:solidFill>
                <a:latin typeface="Yu Gothic" pitchFamily="34" charset="0"/>
                <a:ea typeface="Yu Gothic" pitchFamily="34" charset="-122"/>
              </a:rPr>
              <a:t>特徴</a:t>
            </a:r>
            <a:endParaRPr lang="en-US" sz="2667" dirty="0"/>
          </a:p>
        </p:txBody>
      </p:sp>
      <p:sp>
        <p:nvSpPr>
          <p:cNvPr id="10" name="Shape 8"/>
          <p:cNvSpPr/>
          <p:nvPr/>
        </p:nvSpPr>
        <p:spPr>
          <a:xfrm>
            <a:off x="731520" y="4157472"/>
            <a:ext cx="24384" cy="1219"/>
          </a:xfrm>
          <a:prstGeom prst="rect">
            <a:avLst/>
          </a:prstGeom>
          <a:solidFill>
            <a:srgbClr val="FFFFFF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4" name="Text 12"/>
          <p:cNvSpPr/>
          <p:nvPr/>
        </p:nvSpPr>
        <p:spPr>
          <a:xfrm>
            <a:off x="731520" y="633984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/ 14</a:t>
            </a:r>
            <a:endParaRPr lang="en-US" sz="1333" dirty="0"/>
          </a:p>
        </p:txBody>
      </p:sp>
      <p:sp>
        <p:nvSpPr>
          <p:cNvPr id="15" name="Shape 13"/>
          <p:cNvSpPr/>
          <p:nvPr/>
        </p:nvSpPr>
        <p:spPr>
          <a:xfrm>
            <a:off x="8839200" y="6266688"/>
            <a:ext cx="2621280" cy="438912"/>
          </a:xfrm>
          <a:prstGeom prst="roundRect">
            <a:avLst>
              <a:gd name="adj" fmla="val 50000"/>
            </a:avLst>
          </a:prstGeom>
          <a:solidFill>
            <a:srgbClr val="14171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6" name="Text 14"/>
          <p:cNvSpPr/>
          <p:nvPr/>
        </p:nvSpPr>
        <p:spPr>
          <a:xfrm>
            <a:off x="8839200" y="6266688"/>
            <a:ext cx="262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altLang="ja-JP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櫛濵和輝（25G1046)</a:t>
            </a:r>
            <a:endParaRPr lang="en-US" altLang="ja-JP" sz="1400" dirty="0"/>
          </a:p>
        </p:txBody>
      </p:sp>
      <p:sp>
        <p:nvSpPr>
          <p:cNvPr id="19" name="Text 6">
            <a:extLst>
              <a:ext uri="{FF2B5EF4-FFF2-40B4-BE49-F238E27FC236}">
                <a16:creationId xmlns:a16="http://schemas.microsoft.com/office/drawing/2014/main" id="{7A60C974-811D-B9C1-94BD-D6E238351445}"/>
              </a:ext>
            </a:extLst>
          </p:cNvPr>
          <p:cNvSpPr/>
          <p:nvPr/>
        </p:nvSpPr>
        <p:spPr>
          <a:xfrm>
            <a:off x="743712" y="4754880"/>
            <a:ext cx="9753600" cy="11814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>
              <a:lnSpc>
                <a:spcPct val="130000"/>
              </a:lnSpc>
            </a:pPr>
            <a:r>
              <a:rPr lang="ja-JP" altLang="en-US" sz="4267" b="1" u="sng">
                <a:latin typeface="Yu Gothic" panose="020B0400000000000000" pitchFamily="34" charset="-128"/>
                <a:ea typeface="Yu Gothic" panose="020B0400000000000000" pitchFamily="34" charset="-128"/>
                <a:cs typeface="Yu Gothic" pitchFamily="34" charset="-120"/>
              </a:rPr>
              <a:t>環境光や室内の状態に左右されにくい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9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8" grpId="0" animBg="1"/>
      <p:bldP spid="9" grpId="0" animBg="1"/>
      <p:bldP spid="14" grpId="0" animBg="1"/>
      <p:bldP spid="15" grpId="0" animBg="1"/>
      <p:bldP spid="16" grpId="0" animBg="1"/>
      <p:bldP spid="19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412480" y="-670560"/>
            <a:ext cx="390144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/>
            <a:r>
              <a:rPr lang="en-US" sz="20000" b="1" dirty="0">
                <a:solidFill>
                  <a:srgbClr val="F0F2F5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</a:t>
            </a:r>
            <a:endParaRPr lang="en-US" sz="20000" dirty="0"/>
          </a:p>
        </p:txBody>
      </p:sp>
      <p:sp>
        <p:nvSpPr>
          <p:cNvPr id="3" name="Shape 1"/>
          <p:cNvSpPr/>
          <p:nvPr/>
        </p:nvSpPr>
        <p:spPr>
          <a:xfrm>
            <a:off x="731520" y="670560"/>
            <a:ext cx="170688" cy="170688"/>
          </a:xfrm>
          <a:prstGeom prst="rect">
            <a:avLst/>
          </a:prstGeom>
          <a:solidFill>
            <a:srgbClr val="C6F03E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4" name="Text 2"/>
          <p:cNvSpPr/>
          <p:nvPr/>
        </p:nvSpPr>
        <p:spPr>
          <a:xfrm>
            <a:off x="1024128" y="548640"/>
            <a:ext cx="6705600" cy="3901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67" b="1" kern="0" spc="533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ARCHITECTURE</a:t>
            </a:r>
            <a:endParaRPr lang="en-US" sz="1467"/>
          </a:p>
        </p:txBody>
      </p:sp>
      <p:sp>
        <p:nvSpPr>
          <p:cNvPr id="5" name="Text 3"/>
          <p:cNvSpPr/>
          <p:nvPr/>
        </p:nvSpPr>
        <p:spPr>
          <a:xfrm>
            <a:off x="731520" y="999744"/>
            <a:ext cx="9753600" cy="829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3600" b="1">
                <a:solidFill>
                  <a:srgbClr val="14171C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システム構成</a:t>
            </a:r>
            <a:endParaRPr lang="en-US" sz="3600"/>
          </a:p>
        </p:txBody>
      </p:sp>
      <p:sp>
        <p:nvSpPr>
          <p:cNvPr id="10" name="Text 8"/>
          <p:cNvSpPr/>
          <p:nvPr/>
        </p:nvSpPr>
        <p:spPr>
          <a:xfrm>
            <a:off x="731520" y="6339840"/>
            <a:ext cx="1706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333" dirty="0">
                <a:solidFill>
                  <a:srgbClr val="6B728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/ 14</a:t>
            </a:r>
            <a:endParaRPr lang="en-US" sz="1333" dirty="0"/>
          </a:p>
        </p:txBody>
      </p:sp>
      <p:sp>
        <p:nvSpPr>
          <p:cNvPr id="11" name="Shape 9"/>
          <p:cNvSpPr/>
          <p:nvPr/>
        </p:nvSpPr>
        <p:spPr>
          <a:xfrm>
            <a:off x="8839200" y="6266688"/>
            <a:ext cx="2621280" cy="438912"/>
          </a:xfrm>
          <a:prstGeom prst="roundRect">
            <a:avLst>
              <a:gd name="adj" fmla="val 50000"/>
            </a:avLst>
          </a:prstGeom>
          <a:solidFill>
            <a:srgbClr val="14171C"/>
          </a:solidFill>
          <a:ln/>
        </p:spPr>
        <p:txBody>
          <a:bodyPr/>
          <a:lstStyle/>
          <a:p>
            <a:endParaRPr lang="ja-JP" altLang="en-US" sz="2400"/>
          </a:p>
        </p:txBody>
      </p:sp>
      <p:sp>
        <p:nvSpPr>
          <p:cNvPr id="12" name="Text 10"/>
          <p:cNvSpPr/>
          <p:nvPr/>
        </p:nvSpPr>
        <p:spPr>
          <a:xfrm>
            <a:off x="8839200" y="6266688"/>
            <a:ext cx="26212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400" b="1" dirty="0">
                <a:solidFill>
                  <a:srgbClr val="FFFFFF"/>
                </a:solidFill>
                <a:latin typeface="Yu Gothic" pitchFamily="34" charset="0"/>
                <a:ea typeface="Yu Gothic" pitchFamily="34" charset="-122"/>
                <a:cs typeface="Yu Gothic" pitchFamily="34" charset="-120"/>
              </a:rPr>
              <a:t>櫛濵和輝（25G1046)</a:t>
            </a:r>
            <a:endParaRPr lang="en-US" sz="1400" dirty="0"/>
          </a:p>
        </p:txBody>
      </p:sp>
      <p:pic>
        <p:nvPicPr>
          <p:cNvPr id="14" name="図 13">
            <a:extLst>
              <a:ext uri="{FF2B5EF4-FFF2-40B4-BE49-F238E27FC236}">
                <a16:creationId xmlns:a16="http://schemas.microsoft.com/office/drawing/2014/main" id="{877B485F-5F2E-A7FF-362F-6E99AE2563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01728" y="1580750"/>
            <a:ext cx="8358149" cy="4665013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10" grpId="0" animBg="1"/>
      <p:bldP spid="11" grpId="0" animBg="1"/>
      <p:bldP spid="12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267</Words>
  <Application>Microsoft Macintosh PowerPoint</Application>
  <PresentationFormat>ワイド画面</PresentationFormat>
  <Paragraphs>29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Yu Gothic</vt:lpstr>
      <vt:lpstr>Yu Gothic</vt:lpstr>
      <vt:lpstr>游ゴシック Light</vt:lpstr>
      <vt:lpstr>Arial</vt:lpstr>
      <vt:lpstr>Office テーマ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手代木　巧</dc:creator>
  <cp:lastModifiedBy>櫛濱　和輝</cp:lastModifiedBy>
  <cp:revision>2</cp:revision>
  <dcterms:created xsi:type="dcterms:W3CDTF">2026-07-13T12:49:02Z</dcterms:created>
  <dcterms:modified xsi:type="dcterms:W3CDTF">2026-07-13T17:07:20Z</dcterms:modified>
</cp:coreProperties>
</file>